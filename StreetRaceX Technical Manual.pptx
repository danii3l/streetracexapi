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4C07D4-0AC4-4E50-A292-4153139BC207}">
  <a:tblStyle styleId="{1E4C07D4-0AC4-4E50-A292-4153139BC20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10" Type="http://schemas.openxmlformats.org/officeDocument/2006/relationships/image" Target="../media/image8.png"/><Relationship Id="rId9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3825" y="3629025"/>
            <a:ext cx="432435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5276" y="2028825"/>
            <a:ext cx="1158144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D32F2F"/>
                </a:solidFill>
                <a:latin typeface="Poppins"/>
                <a:ea typeface="Poppins"/>
                <a:cs typeface="Poppins"/>
                <a:sym typeface="Poppins"/>
              </a:rPr>
              <a:t>STREET</a:t>
            </a: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RACE X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5276" y="29813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MANUAL TÉCNICO DE ARQUITECTURA Y BACKEND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133850" y="3829050"/>
            <a:ext cx="392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Proyecto: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Plataforma de Competencia Urbana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133850" y="4095750"/>
            <a:ext cx="392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Entrega: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Actividad Backend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133850" y="4362450"/>
            <a:ext cx="392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Mayo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305276" y="2381250"/>
            <a:ext cx="1158144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01. ARQUITECTURA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381625" y="3695700"/>
            <a:ext cx="1428750" cy="381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4019550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Fundamentos técnicos y stack tecnológico de la plataforma.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43150"/>
            <a:ext cx="2578893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8043" y="2343150"/>
            <a:ext cx="2578893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343150"/>
            <a:ext cx="2578893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32081" y="2343150"/>
            <a:ext cx="2578893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826591" y="3409950"/>
            <a:ext cx="208776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RUNTIME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76300" y="3933825"/>
            <a:ext cx="198834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Node.js con TypeScript para un tipado fuerte y escalabilidad robusta.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3643610" y="3409950"/>
            <a:ext cx="208776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FRAMEWORK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3693318" y="3933825"/>
            <a:ext cx="198834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Express.js encargado del ruteo, middlewares y gestión de peticiones REST.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460628" y="3409950"/>
            <a:ext cx="208776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PERSISTENCIA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510337" y="3933825"/>
            <a:ext cx="198834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Firebase Admin SDK (Firestore) para datos NoSQL y autenticación segura.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277647" y="3409950"/>
            <a:ext cx="208776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327356" y="3933825"/>
            <a:ext cx="198834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Socket.io para la comunicación bidireccional y notificaciones push.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60921" y="267652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49365" y="26765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94959" y="267652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11978" y="267652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71525" y="581025"/>
            <a:ext cx="1138142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STACK TECNOLÓGICO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81025" y="581025"/>
            <a:ext cx="76200" cy="6858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09775"/>
            <a:ext cx="53244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5550" y="2028825"/>
            <a:ext cx="52863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962025" y="2633662"/>
            <a:ext cx="49434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Domain: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Entidades puras y reglas de negocio sin dependencias externas.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62025" y="3309937"/>
            <a:ext cx="49434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Use Cases: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Orquestación de la lógica de aplicación (Auth, Retos).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62025" y="3986212"/>
            <a:ext cx="49434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Infrastructure: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Adaptadores para Firebase, Express y Sockets.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62025" y="4662487"/>
            <a:ext cx="49434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Decoupling: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Interfaces que garantizan el principio de inversión de dependencia.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6717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3480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02431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47005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71525" y="581025"/>
            <a:ext cx="1138142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CLEAN ARCHITECTURE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81025" y="581025"/>
            <a:ext cx="76200" cy="6858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305276" y="2381250"/>
            <a:ext cx="1158144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02. LÓGICA DE NEGOCIO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381625" y="3695700"/>
            <a:ext cx="1428750" cy="381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581025" y="4019550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Reglas de oro, validaciones y sistema competitivo.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069008"/>
            <a:ext cx="4572000" cy="1655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69008"/>
            <a:ext cx="4572000" cy="1655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105275"/>
            <a:ext cx="4572000" cy="1655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105275"/>
            <a:ext cx="4572000" cy="165526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1628775" y="2364283"/>
            <a:ext cx="41805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32F2F"/>
                </a:solidFill>
                <a:latin typeface="Poppins"/>
                <a:ea typeface="Poppins"/>
                <a:cs typeface="Poppins"/>
                <a:sym typeface="Poppins"/>
              </a:rPr>
              <a:t>VEHÍCULOS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628775" y="2850058"/>
            <a:ext cx="39814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Máximo 3 vehículos por piloto. Solo 1 puede estar marcado como </a:t>
            </a:r>
            <a:r>
              <a:rPr b="1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activo</a:t>
            </a: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para participar en retos competitivos.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581775" y="2364283"/>
            <a:ext cx="41805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32F2F"/>
                </a:solidFill>
                <a:latin typeface="Poppins"/>
                <a:ea typeface="Poppins"/>
                <a:cs typeface="Poppins"/>
                <a:sym typeface="Poppins"/>
              </a:rPr>
              <a:t>RANGOS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581775" y="2850058"/>
            <a:ext cx="39814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Solo se permiten retos entre pilotos del </a:t>
            </a:r>
            <a:r>
              <a:rPr b="1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mismo rango</a:t>
            </a: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(D, C, B, A, S). El ascenso es automático por puntos.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628775" y="4400550"/>
            <a:ext cx="41805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32F2F"/>
                </a:solidFill>
                <a:latin typeface="Poppins"/>
                <a:ea typeface="Poppins"/>
                <a:cs typeface="Poppins"/>
                <a:sym typeface="Poppins"/>
              </a:rPr>
              <a:t>RETOS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628775" y="4886325"/>
            <a:ext cx="39814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Validación de tipos de vehículos iguales (Auto vs Auto). Prohibición de auto-retos y retos duplicados activos.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581775" y="4400550"/>
            <a:ext cx="41805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32F2F"/>
                </a:solidFill>
                <a:latin typeface="Poppins"/>
                <a:ea typeface="Poppins"/>
                <a:cs typeface="Poppins"/>
                <a:sym typeface="Poppins"/>
              </a:rPr>
              <a:t>INTERACCIÓN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581775" y="4886325"/>
            <a:ext cx="39814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Notificaciones inmediatas vía Sockets y persistencia en DB para consulta offline (RF-06).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600200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600200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1600200"/>
            <a:ext cx="2952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1600200"/>
            <a:ext cx="2095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71525" y="581025"/>
            <a:ext cx="1138142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REGLAS DE ORO DEL PILOTO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81025" y="581025"/>
            <a:ext cx="76200" cy="6858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81025" y="581025"/>
            <a:ext cx="51906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NOTIFICACIONES REAL-TIME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81025" y="2428875"/>
            <a:ext cx="49434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Implementación de un mapa de conexiones dinámico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userSockets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962025" y="3305175"/>
            <a:ext cx="45624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Mapeo 1:1 de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UID de Firebase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Socket ID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962025" y="3714750"/>
            <a:ext cx="45624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Notificaciones privadas: io.to(targetSocketId).emit().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62025" y="4400550"/>
            <a:ext cx="45624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Modelo híbrido: Envío instantáneo + Persistencia en colección </a:t>
            </a:r>
            <a:r>
              <a:rPr b="0" i="1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notifications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3432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7528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43865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20"/>
          <p:cNvGraphicFramePr/>
          <p:nvPr/>
        </p:nvGraphicFramePr>
        <p:xfrm>
          <a:off x="581025" y="28444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{1E4C07D4-0AC4-4E50-A292-4153139BC207}</a:tableStyleId>
              </a:tblPr>
              <a:tblGrid>
                <a:gridCol w="2930575"/>
                <a:gridCol w="1497350"/>
                <a:gridCol w="6602025"/>
              </a:tblGrid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Endpoint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Método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Descripción / RF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2F2F"/>
                    </a:solidFill>
                  </a:tcPr>
                </a:tc>
              </a:tr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/api/auth/register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Registro de nuevo piloto con categoría inicial (RF-01).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/api/auth/login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Autenticación y generación de JWT / Token de sesión.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</a:tr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/api/users/me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Obtener perfil propio, rango y puntos acumulados.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/api/users/discover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Descubrir pilotos del mismo rango para retar (RF-05).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20"/>
          <p:cNvSpPr/>
          <p:nvPr/>
        </p:nvSpPr>
        <p:spPr>
          <a:xfrm>
            <a:off x="581025" y="3807172"/>
            <a:ext cx="293057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3511599" y="3807172"/>
            <a:ext cx="14973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008959" y="3807172"/>
            <a:ext cx="660201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81025" y="4258567"/>
            <a:ext cx="293057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511599" y="4258567"/>
            <a:ext cx="14973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008959" y="4258567"/>
            <a:ext cx="660201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81025" y="4709963"/>
            <a:ext cx="293057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511599" y="4709963"/>
            <a:ext cx="14973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008959" y="4709963"/>
            <a:ext cx="660201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81025" y="5161359"/>
            <a:ext cx="293057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3511599" y="5161359"/>
            <a:ext cx="14973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008959" y="5161359"/>
            <a:ext cx="660201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771525" y="581025"/>
            <a:ext cx="1138142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API: AUTH &amp; USUARIOS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581025" y="581025"/>
            <a:ext cx="76200" cy="6858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p21"/>
          <p:cNvGraphicFramePr/>
          <p:nvPr/>
        </p:nvGraphicFramePr>
        <p:xfrm>
          <a:off x="581025" y="28444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{1E4C07D4-0AC4-4E50-A292-4153139BC207}</a:tableStyleId>
              </a:tblPr>
              <a:tblGrid>
                <a:gridCol w="3826975"/>
                <a:gridCol w="1446750"/>
                <a:gridCol w="5756225"/>
              </a:tblGrid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Endpoint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Método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Descripción / RF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2F2F"/>
                    </a:solidFill>
                  </a:tcPr>
                </a:tc>
              </a:tr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/api/vehicles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Agregar vehículo (Validación límite de 3) (RF-03).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/api/vehicles/:id/activate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PATCH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Marcar como activo y desactivar otros (Regla 3).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</a:tr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</a:t>
                      </a:r>
                      <a:r>
                        <a:rPr lang="en-US" sz="12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vehicles</a:t>
                      </a:r>
                      <a:endParaRPr b="0" i="0" sz="1200" u="none" cap="none" strike="noStrike">
                        <a:solidFill>
                          <a:srgbClr val="E0E0E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GET</a:t>
                      </a:r>
                      <a:endParaRPr b="0" i="0" sz="1200" u="none" cap="none" strike="noStrike">
                        <a:solidFill>
                          <a:srgbClr val="E0E0E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Obtener todos los </a:t>
                      </a:r>
                      <a:r>
                        <a:rPr lang="en-US" sz="12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vehículos</a:t>
                      </a:r>
                      <a:r>
                        <a:rPr lang="en-US" sz="12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.</a:t>
                      </a:r>
                      <a:endParaRPr b="0" i="0" sz="1200" u="none" cap="none" strike="noStrike">
                        <a:solidFill>
                          <a:srgbClr val="E0E0E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/api/notifications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Historial de notificaciones persistentes (RF-06).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/api/notifications/:id/read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PATCH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Marcar notificación como leída.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210" name="Google Shape;210;p21"/>
          <p:cNvSpPr/>
          <p:nvPr/>
        </p:nvSpPr>
        <p:spPr>
          <a:xfrm>
            <a:off x="581025" y="3807172"/>
            <a:ext cx="382696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407991" y="3807172"/>
            <a:ext cx="144675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854749" y="3807172"/>
            <a:ext cx="57562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81025" y="4258567"/>
            <a:ext cx="382696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4407991" y="4258567"/>
            <a:ext cx="144675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5854749" y="4258567"/>
            <a:ext cx="57562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81025" y="4709963"/>
            <a:ext cx="382696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4407991" y="4709963"/>
            <a:ext cx="144675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5854749" y="4709963"/>
            <a:ext cx="57562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81025" y="5161359"/>
            <a:ext cx="382696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4407991" y="5161359"/>
            <a:ext cx="144675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5854749" y="5161359"/>
            <a:ext cx="575622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771525" y="581025"/>
            <a:ext cx="1138142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API: VEHÍCULOS &amp; NOTIFICACIONES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81025" y="581025"/>
            <a:ext cx="76200" cy="6858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" name="Google Shape;229;p22"/>
          <p:cNvGraphicFramePr/>
          <p:nvPr/>
        </p:nvGraphicFramePr>
        <p:xfrm>
          <a:off x="581025" y="28444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{1E4C07D4-0AC4-4E50-A292-4153139BC207}</a:tableStyleId>
              </a:tblPr>
              <a:tblGrid>
                <a:gridCol w="3662225"/>
                <a:gridCol w="1340800"/>
                <a:gridCol w="6026950"/>
              </a:tblGrid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Endpoint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Método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Descripción / RF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32F2F"/>
                    </a:solidFill>
                  </a:tcPr>
                </a:tc>
              </a:tr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/api/challenges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Enviar reto con validación de rango y vehículo (RF-04).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/api/challenges/:id/respond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PATCH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Aceptar o rechazar un reto recibido (Regla 9).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</a:tr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/api/challenges/:id/complete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Registrar ganador, actualizar puntos y rangos (Regla 11).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/api/challenges/history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Historial completo de retos del piloto (RF-06).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</a:tr>
            </a:tbl>
          </a:graphicData>
        </a:graphic>
      </p:graphicFrame>
      <p:sp>
        <p:nvSpPr>
          <p:cNvPr id="230" name="Google Shape;230;p22"/>
          <p:cNvSpPr/>
          <p:nvPr/>
        </p:nvSpPr>
        <p:spPr>
          <a:xfrm>
            <a:off x="581025" y="3807172"/>
            <a:ext cx="366221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4243238" y="3807172"/>
            <a:ext cx="134079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584031" y="3807172"/>
            <a:ext cx="602694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81025" y="4258567"/>
            <a:ext cx="366221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4243238" y="4258567"/>
            <a:ext cx="134079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5584031" y="4258567"/>
            <a:ext cx="602694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81025" y="4709963"/>
            <a:ext cx="366221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4243238" y="4709963"/>
            <a:ext cx="134079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5584031" y="4709963"/>
            <a:ext cx="602694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581025" y="5161359"/>
            <a:ext cx="366221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4243238" y="5161359"/>
            <a:ext cx="134079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5584031" y="5161359"/>
            <a:ext cx="602694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771525" y="581025"/>
            <a:ext cx="1138142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API: RETOS &amp; COMPETENCIA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581025" y="581025"/>
            <a:ext cx="76200" cy="6858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52575"/>
            <a:ext cx="1102995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581025" y="4314825"/>
            <a:ext cx="11029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"La progresión automática de rango garantiza que los pilotos siempre compitan contra rivales de nivel similar, manteniendo el equilibrio competitivo de StreetRaceX."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771525" y="581025"/>
            <a:ext cx="1138142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 DE PUNTUACIÓN (REGLA 11)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581025" y="581025"/>
            <a:ext cx="76200" cy="6858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 txBox="1"/>
          <p:nvPr/>
        </p:nvSpPr>
        <p:spPr>
          <a:xfrm>
            <a:off x="305276" y="640109"/>
            <a:ext cx="11581447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D32F2F"/>
                </a:solidFill>
                <a:latin typeface="Poppins"/>
                <a:ea typeface="Poppins"/>
                <a:cs typeface="Poppins"/>
                <a:sym typeface="Poppins"/>
              </a:rPr>
              <a:t>¿DUDAS?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581025" y="1783109"/>
            <a:ext cx="11029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Manual Técnico - Actividad Backend - Mayo 2026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581025" y="5760690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PROYECTO STREETRACEX</a:t>
            </a:r>
            <a:endParaRPr/>
          </a:p>
        </p:txBody>
      </p:sp>
      <p:pic>
        <p:nvPicPr>
          <p:cNvPr descr="image.png" id="261" name="Google Shape;2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257934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/>
          <p:nvPr/>
        </p:nvSpPr>
        <p:spPr>
          <a:xfrm>
            <a:off x="581025" y="2696616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81025" y="3468141"/>
            <a:ext cx="1102995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81025" y="345861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81025" y="345861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81025" y="436125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81025" y="436125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3" name="Google Shape;27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3949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1676400" y="2860476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https://learn.microsoft.com/en-us/dotnet/architecture/modern-web-apps-azure/media/image5-11.png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1676400" y="3081337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learn.microsoft.com</a:t>
            </a:r>
            <a:endParaRPr/>
          </a:p>
        </p:txBody>
      </p:sp>
      <p:pic>
        <p:nvPicPr>
          <p:cNvPr descr="image.png" id="276" name="Google Shape;27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6765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1676400" y="3611016"/>
            <a:ext cx="993457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https://media2.dev.to/dynamic/image/width=1000,height=420,fit=cover,gravity=auto,format=auto/https%3A%2F%2Fdev-to-uploads.s3.amazonaws.com%2Fuploads%2Farticles%2Fwfbzgoob2jvswvq2q18p.png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676400" y="4005113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dev.to</a:t>
            </a:r>
            <a:endParaRPr/>
          </a:p>
        </p:txBody>
      </p:sp>
      <p:pic>
        <p:nvPicPr>
          <p:cNvPr descr="image.png" id="279" name="Google Shape;27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5136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1676400" y="4534644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https://media.easy-peasy.ai/c2330507-50bb-41c7-aabb-b27499401117/ba5dd7e2-efe6-423a-b2a0-58492fd1c78e_medium.webp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1676400" y="4755505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easy-peasy.ai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771525" y="581025"/>
            <a:ext cx="1138142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581025" y="581025"/>
            <a:ext cx="76200" cy="6858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